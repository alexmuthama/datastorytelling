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Monthly Transaction Volume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August 2018</c:v>
                  </c:pt>
                  <c:pt idx="1">
                    <c:v>September 2018</c:v>
                  </c:pt>
                  <c:pt idx="2">
                    <c:v>October 2018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3943</c:v>
                </c:pt>
                <c:pt idx="1">
                  <c:v>4013</c:v>
                </c:pt>
                <c:pt idx="2">
                  <c:v>4087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CB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42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CBD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B4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Transactions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1360</c:v>
                </c:pt>
                <c:pt idx="1">
                  <c:v>1487</c:v>
                </c:pt>
                <c:pt idx="2">
                  <c:v>2063</c:v>
                </c:pt>
                <c:pt idx="3">
                  <c:v>1801</c:v>
                </c:pt>
                <c:pt idx="4">
                  <c:v>2073</c:v>
                </c:pt>
                <c:pt idx="5">
                  <c:v>1709</c:v>
                </c:pt>
                <c:pt idx="6">
                  <c:v>1550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CB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42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CBD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B4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B4A"/>
                </a:solidFill>
                <a:latin typeface="Arial"/>
              </a:rPr>
              <a:t>Debit Spend by Category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bubble3D val="0"/>
            <c:spPr>
              <a:solidFill>
                <a:srgbClr val="1A2B4A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A78BF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POS</c:v>
                </c:pt>
                <c:pt idx="1">
                  <c:v>SALES-POS</c:v>
                </c:pt>
                <c:pt idx="2">
                  <c:v>PAYMENT</c:v>
                </c:pt>
                <c:pt idx="3">
                  <c:v>INTER BANK</c:v>
                </c:pt>
                <c:pt idx="4">
                  <c:v>PHONE BANK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152861</c:v>
                </c:pt>
                <c:pt idx="1">
                  <c:v>157005</c:v>
                </c:pt>
                <c:pt idx="2">
                  <c:v>201794</c:v>
                </c:pt>
                <c:pt idx="3">
                  <c:v>64331</c:v>
                </c:pt>
                <c:pt idx="4">
                  <c:v>10716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7F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B4A"/>
                </a:solidFill>
                <a:latin typeface="Arial"/>
              </a:rPr>
              <a:t>Avg Transaction Value by Age Group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Transaction ($)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18–25</c:v>
                  </c:pt>
                  <c:pt idx="1">
                    <c:v>26–35</c:v>
                  </c:pt>
                  <c:pt idx="2">
                    <c:v>36–45</c:v>
                  </c:pt>
                  <c:pt idx="3">
                    <c:v>46–55</c:v>
                  </c:pt>
                  <c:pt idx="4">
                    <c:v>55+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</c:v>
                </c:pt>
                <c:pt idx="1">
                  <c:v>174</c:v>
                </c:pt>
                <c:pt idx="2">
                  <c:v>205</c:v>
                </c:pt>
                <c:pt idx="3">
                  <c:v>273</c:v>
                </c:pt>
                <c:pt idx="4">
                  <c:v>179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7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6" Type="http://schemas.openxmlformats.org/officeDocument/2006/relationships/chart" Target="/ppt/charts/chart2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Dataset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Insights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Hypothetical Customers  |  Aug – Oct 2018  |  12,043 Transactions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192024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12,043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3383280"/>
            <a:ext cx="192024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383280"/>
            <a:ext cx="192024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$586K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Debit Spend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383280"/>
            <a:ext cx="192024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Coverage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March 2026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1188720"/>
            <a:ext cx="3749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258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3560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1380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Missing Merchant Data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" y="1645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4,326 'posted' transactions have no merchant suburb, state, or card_present_flag — making geographic and channel analysis incomplete.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0040" y="219456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30428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" y="2249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First Names as IDs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04672" y="2514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unique first names for 100 customers means at least 20 customers share a name — no unique customer ID exists to distinguish them.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20040" y="306324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17296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4672" y="3118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Transaction Timestamps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04672" y="3383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are date-only (no hour/minute). Time-of-day analysis — a core behavioural insight — is entirely impossible.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20040" y="39319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04164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3986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POS Categories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04672" y="42519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'SALES-POS' and 'POS' appear to be duplicates (7,717 combined rows) but are stored as separate categories, inflating segmentation.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983480" y="1325880"/>
            <a:ext cx="3794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1435608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68112" y="13807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Unique Customer IDs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468112" y="16459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alphanumeric IDs (e.g. CUST-0001) at onboarding. First names alone cannot uniquely identify customers in any real population.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4983480" y="2194560"/>
            <a:ext cx="3794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2304288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68112" y="22494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Transaction Timestamps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5468112" y="25146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date AND time (HH:MM:SS) for every transaction. This unlocks peak-hour analysis, fraud timing patterns, and intraday behaviour.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4983480" y="3063240"/>
            <a:ext cx="3794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2352" y="3172968"/>
            <a:ext cx="292608" cy="29260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468112" y="31181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POS Category Labels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5468112" y="33832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'SALES-POS' and 'POS' into one category code. Define a controlled vocabulary for txn_description before data collection.</a:t>
            </a:r>
            <a:endParaRPr lang="en-US" sz="850" dirty="0"/>
          </a:p>
        </p:txBody>
      </p:sp>
      <p:sp>
        <p:nvSpPr>
          <p:cNvPr id="36" name="Shape 27"/>
          <p:cNvSpPr/>
          <p:nvPr/>
        </p:nvSpPr>
        <p:spPr>
          <a:xfrm>
            <a:off x="4983480" y="3931920"/>
            <a:ext cx="3794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2352" y="4041648"/>
            <a:ext cx="292608" cy="29260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468112" y="39867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Merchant Data for All Records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5468112" y="42519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suburb, state, and card_present_flag should be mandatory fields. 'Posted' transactions should not be exempt from merchant capture.</a:t>
            </a:r>
            <a:endParaRPr lang="en-US" sz="850" dirty="0"/>
          </a:p>
        </p:txBody>
      </p:sp>
      <p:sp>
        <p:nvSpPr>
          <p:cNvPr id="40" name="Text 30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Issues primarily affect geographic segmentation and per-customer behavioural analysis. Core volume and spend metrics remain reliable.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TRANSACTION INSIGHTS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65960" cy="1371600"/>
          </a:xfrm>
          <a:prstGeom prst="rect">
            <a:avLst/>
          </a:prstGeom>
          <a:solidFill>
            <a:srgbClr val="243B55"/>
          </a:solidFill>
          <a:ln w="12700">
            <a:solidFill>
              <a:srgbClr val="334D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859536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905256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4356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74320" y="18470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transactions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450592" y="777240"/>
            <a:ext cx="1965960" cy="1371600"/>
          </a:xfrm>
          <a:prstGeom prst="rect">
            <a:avLst/>
          </a:prstGeom>
          <a:solidFill>
            <a:srgbClr val="243B55"/>
          </a:solidFill>
          <a:ln w="12700">
            <a:solidFill>
              <a:srgbClr val="334D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63824" y="859536"/>
            <a:ext cx="548640" cy="5486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905256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50592" y="14356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$52.57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2450592" y="18470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debit transaction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626864" y="777240"/>
            <a:ext cx="1965960" cy="1371600"/>
          </a:xfrm>
          <a:prstGeom prst="rect">
            <a:avLst/>
          </a:prstGeom>
          <a:solidFill>
            <a:srgbClr val="243B55"/>
          </a:solidFill>
          <a:ln w="12700">
            <a:solidFill>
              <a:srgbClr val="334D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40096" y="859536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905256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26864" y="14356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4626864" y="18470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card-present rate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803136" y="777240"/>
            <a:ext cx="1965960" cy="1371600"/>
          </a:xfrm>
          <a:prstGeom prst="rect">
            <a:avLst/>
          </a:prstGeom>
          <a:solidFill>
            <a:srgbClr val="243B55"/>
          </a:solidFill>
          <a:ln w="12700">
            <a:solidFill>
              <a:srgbClr val="334D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16368" y="859536"/>
            <a:ext cx="548640" cy="5486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905256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03136" y="14356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NSW &amp; VIC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6803136" y="18470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merchant states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74320" y="2331720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4572000" y="2331720"/>
          <a:ext cx="42976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6" name="Text 18"/>
          <p:cNvSpPr/>
          <p:nvPr/>
        </p:nvSpPr>
        <p:spPr>
          <a:xfrm>
            <a:off x="274320" y="47365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Steady growth across the 3-month period</a:t>
            </a:r>
            <a:endParaRPr lang="en-US" sz="800" dirty="0"/>
          </a:p>
        </p:txBody>
      </p:sp>
      <p:sp>
        <p:nvSpPr>
          <p:cNvPr id="27" name="Text 19"/>
          <p:cNvSpPr/>
          <p:nvPr/>
        </p:nvSpPr>
        <p:spPr>
          <a:xfrm>
            <a:off x="4572000" y="47365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Wed &amp; Fri peak; Monday is lowest activity day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PATTERNS &amp; SEGMENTATION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39319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82296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023360"/>
            <a:ext cx="393192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4041648"/>
            <a:ext cx="3749040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transactions account for the largest spend share (34%) </a:t>
            </a:r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($201K)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driven by recurring bill payments rather than retail POS activity.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4572000" y="4023360"/>
            <a:ext cx="42062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663440" y="4041648"/>
            <a:ext cx="3931920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46–55 year olds spend </a:t>
            </a:r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more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transaction than 26–35 year olds ($273 vs $174) — highest-value segment despite being a small group (457 txns).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*Based on debit transactions only. Posted transactions excluded from geographic analysis due to missing merchant data.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Dataset Analysis</dc:title>
  <dc:subject>PptxGenJS Presentation</dc:subject>
  <dc:creator>PptxGenJS</dc:creator>
  <cp:lastModifiedBy>PptxGenJS</cp:lastModifiedBy>
  <cp:revision>1</cp:revision>
  <dcterms:created xsi:type="dcterms:W3CDTF">2026-03-21T10:36:25Z</dcterms:created>
  <dcterms:modified xsi:type="dcterms:W3CDTF">2026-03-21T10:36:25Z</dcterms:modified>
</cp:coreProperties>
</file>